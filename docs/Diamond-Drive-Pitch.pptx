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blem" id="{2CBEDB8A-314E-AFB5-6C2A-17B3B8DDD0A2}">
          <p14:sldIdLst>
            <p14:sldId id="256"/>
            <p14:sldId id="257"/>
          </p14:sldIdLst>
        </p14:section>
        <p14:section name="The app and the AI" id="{811FE5A0-61AD-4198-EDD2-58B707F7EDB7}">
          <p14:sldIdLst>
            <p14:sldId id="258"/>
            <p14:sldId id="259"/>
            <p14:sldId id="260"/>
          </p14:sldIdLst>
        </p14:section>
        <p14:section name="Privacy, demo, close" id="{B5AC060C-3CFE-73AF-89C1-600176F326E5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2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4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8480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Hi, I'm Ish. Diamond Drive is a free AI baseball coach that runs on any 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Coaching is paywalled. A swing flaw a paid coach fixes in one session can go uncorrected for years.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Film a swing, the face is hidden on the phone, the AI analyzes it, and the kid gets plain-English coaching and drills.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Pretrained by Google on millions of images. They run on the kid's phone through WebAssembly — no server, no data to Google.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models give dots and boxes. When the swing happens, whether the hips fire first, and whether to trust the clip at all — that's my code. Testing caught real bugs, like stride measuring stance width.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app: Player → Analysis, Coach → Review → comment, Parent → Family → same comment.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b="1" kern="0" spc="300" dirty="0">
                <a:solidFill>
                  <a:schemeClr val="accent2"/>
                </a:solidFill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96012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b="1" kern="0" spc="3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96012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4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731520" y="25603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chemeClr val="bg1"/>
                </a:solidFill>
              </a:rPr>
              <a:t>DIAMOND DRIVE</a:t>
            </a:r>
            <a:endParaRPr lang="en-US" sz="8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12064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chemeClr val="accent1"/>
                </a:solidFill>
              </a:rPr>
              <a:t>THE PROBLEM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8016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chemeClr val="tx1"/>
                </a:solidFill>
              </a:rPr>
              <a:t>$3–10K</a:t>
            </a:r>
            <a:endParaRPr lang="en-US" sz="1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918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chemeClr val="accent5"/>
                </a:solidFill>
              </a:rPr>
              <a:t>a year for private lessons and travel ball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7548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/>
              <a:t>Under privileged kids are not less talented. They just receive less feedback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chemeClr val="accent2"/>
                </a:solidFill>
              </a:rPr>
              <a:t>THE SOLUTION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9601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</a:rPr>
              <a:t>A free AI coach on any phone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31520" y="2651760"/>
            <a:ext cx="2240280" cy="2103120"/>
          </a:xfrm>
          <a:prstGeom prst="roundRect">
            <a:avLst>
              <a:gd name="adj" fmla="val 6522"/>
            </a:avLst>
          </a:prstGeom>
          <a:solidFill>
            <a:srgbClr val="1A2A2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180" y="3017520"/>
            <a:ext cx="822960" cy="822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39776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Film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3090672" y="3538728"/>
            <a:ext cx="329184" cy="329184"/>
          </a:xfrm>
          <a:prstGeom prst="rightArrow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538728" y="2651760"/>
            <a:ext cx="2240280" cy="2103120"/>
          </a:xfrm>
          <a:prstGeom prst="roundRect">
            <a:avLst>
              <a:gd name="adj" fmla="val 6522"/>
            </a:avLst>
          </a:prstGeom>
          <a:solidFill>
            <a:srgbClr val="1A2A2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7388" y="3017520"/>
            <a:ext cx="822960" cy="8229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538728" y="39776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Hide face</a:t>
            </a:r>
            <a:endParaRPr lang="en-US" sz="2600" dirty="0"/>
          </a:p>
        </p:txBody>
      </p:sp>
      <p:sp>
        <p:nvSpPr>
          <p:cNvPr id="11" name="Shape 7"/>
          <p:cNvSpPr/>
          <p:nvPr/>
        </p:nvSpPr>
        <p:spPr>
          <a:xfrm>
            <a:off x="5897880" y="3538728"/>
            <a:ext cx="329184" cy="329184"/>
          </a:xfrm>
          <a:prstGeom prst="rightArrow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6345936" y="2651760"/>
            <a:ext cx="2240280" cy="2103120"/>
          </a:xfrm>
          <a:prstGeom prst="roundRect">
            <a:avLst>
              <a:gd name="adj" fmla="val 6522"/>
            </a:avLst>
          </a:prstGeom>
          <a:solidFill>
            <a:srgbClr val="1A2A2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4596" y="3017520"/>
            <a:ext cx="822960" cy="8229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345936" y="39776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Analyze</a:t>
            </a:r>
            <a:endParaRPr lang="en-US" sz="2600" dirty="0"/>
          </a:p>
        </p:txBody>
      </p:sp>
      <p:sp>
        <p:nvSpPr>
          <p:cNvPr id="15" name="Shape 10"/>
          <p:cNvSpPr/>
          <p:nvPr/>
        </p:nvSpPr>
        <p:spPr>
          <a:xfrm>
            <a:off x="8705088" y="3538728"/>
            <a:ext cx="329184" cy="329184"/>
          </a:xfrm>
          <a:prstGeom prst="rightArrow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9153144" y="2651760"/>
            <a:ext cx="2240280" cy="2103120"/>
          </a:xfrm>
          <a:prstGeom prst="roundRect">
            <a:avLst>
              <a:gd name="adj" fmla="val 6522"/>
            </a:avLst>
          </a:prstGeom>
          <a:solidFill>
            <a:srgbClr val="1A2A2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1804" y="3017520"/>
            <a:ext cx="822960" cy="8229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153144" y="39776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Coach</a:t>
            </a:r>
            <a:endParaRPr lang="en-US" sz="2600" dirty="0"/>
          </a:p>
        </p:txBody>
      </p:sp>
      <p:sp>
        <p:nvSpPr>
          <p:cNvPr id="19" name="Text 13"/>
          <p:cNvSpPr txBox="1"/>
          <p:nvPr/>
        </p:nvSpPr>
        <p:spPr>
          <a:xfrm>
            <a:off x="731520" y="53949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accent4"/>
                </a:solidFill>
              </a:rPr>
              <a:t> No cost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chemeClr val="accent1"/>
                </a:solidFill>
              </a:rPr>
              <a:t>THE AI · GOOGLE MEDIAPIPE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9601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tx1"/>
                </a:solidFill>
              </a:rPr>
              <a:t>Two models </a:t>
            </a:r>
            <a:r>
              <a:rPr lang="en-US" dirty="0"/>
              <a:t>o</a:t>
            </a:r>
            <a:r>
              <a:rPr lang="en-US" sz="4400" b="1" dirty="0">
                <a:solidFill>
                  <a:schemeClr val="tx1"/>
                </a:solidFill>
              </a:rPr>
              <a:t>n the phone.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31520" y="2377440"/>
            <a:ext cx="5166360" cy="2651760"/>
          </a:xfrm>
          <a:prstGeom prst="roundRect">
            <a:avLst>
              <a:gd name="adj" fmla="val 5172"/>
            </a:avLst>
          </a:prstGeom>
          <a:solidFill>
            <a:srgbClr val="FFFDF7"/>
          </a:solidFill>
          <a:ln w="19050">
            <a:solidFill>
              <a:srgbClr val="D9D3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1188720" y="35661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BlazeFace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42062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accent5"/>
                </a:solidFill>
              </a:rPr>
              <a:t>Finds every face → pixelate it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263640" y="2377440"/>
            <a:ext cx="5166360" cy="2651760"/>
          </a:xfrm>
          <a:prstGeom prst="roundRect">
            <a:avLst>
              <a:gd name="adj" fmla="val 5172"/>
            </a:avLst>
          </a:prstGeom>
          <a:solidFill>
            <a:srgbClr val="FFFDF7"/>
          </a:solidFill>
          <a:ln w="19050">
            <a:solidFill>
              <a:srgbClr val="D9D3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697480"/>
            <a:ext cx="731520" cy="7315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720840" y="35661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BlazePose</a:t>
            </a:r>
            <a:endParaRPr lang="en-US" sz="3200" dirty="0"/>
          </a:p>
        </p:txBody>
      </p:sp>
      <p:sp>
        <p:nvSpPr>
          <p:cNvPr id="11" name="Text 7"/>
          <p:cNvSpPr txBox="1"/>
          <p:nvPr/>
        </p:nvSpPr>
        <p:spPr>
          <a:xfrm>
            <a:off x="6720840" y="42062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accent5"/>
                </a:solidFill>
              </a:rPr>
              <a:t>33 body points, ~60× a second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chemeClr val="accent2"/>
                </a:solidFill>
              </a:rPr>
              <a:t>WHAT I BUILT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9601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400" dirty="0"/>
              <a:t>The Engine</a:t>
            </a:r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5166360" cy="2926080"/>
          </a:xfrm>
          <a:prstGeom prst="roundRect">
            <a:avLst>
              <a:gd name="adj" fmla="val 4688"/>
            </a:avLst>
          </a:prstGeom>
          <a:solidFill>
            <a:srgbClr val="1A2A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188720" y="25603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chemeClr val="accent4"/>
                </a:solidFill>
              </a:rPr>
              <a:t>SWING ANALYSIS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3108960"/>
            <a:ext cx="4389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Finds the swing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6 coach metrics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Refuses bad clips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263640" y="2286000"/>
            <a:ext cx="5166360" cy="2926080"/>
          </a:xfrm>
          <a:prstGeom prst="roundRect">
            <a:avLst>
              <a:gd name="adj" fmla="val 4688"/>
            </a:avLst>
          </a:prstGeom>
          <a:solidFill>
            <a:srgbClr val="1A2A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720840" y="25603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chemeClr val="accent4"/>
                </a:solidFill>
              </a:rPr>
              <a:t>FACE Blurring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720840" y="3108960"/>
            <a:ext cx="4389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Pixelate, not blur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Checks its own work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5321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accent4"/>
                </a:solidFill>
              </a:rPr>
              <a:t>Tested on 36 coach-labeled swings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chemeClr val="accent1"/>
                </a:solidFill>
              </a:rPr>
              <a:t>LIVE DEMO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9601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tx1"/>
                </a:solidFill>
              </a:rPr>
              <a:t>Three roles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31520" y="2377440"/>
            <a:ext cx="3337560" cy="2743200"/>
          </a:xfrm>
          <a:prstGeom prst="roundRect">
            <a:avLst>
              <a:gd name="adj" fmla="val 5000"/>
            </a:avLst>
          </a:prstGeom>
          <a:solidFill>
            <a:srgbClr val="FFFDF7"/>
          </a:solidFill>
          <a:ln w="19050">
            <a:solidFill>
              <a:srgbClr val="D9D3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697480"/>
            <a:ext cx="685800" cy="6858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35661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Player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42062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Films, gets coached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361688" y="2377440"/>
            <a:ext cx="3337560" cy="2743200"/>
          </a:xfrm>
          <a:prstGeom prst="roundRect">
            <a:avLst>
              <a:gd name="adj" fmla="val 5000"/>
            </a:avLst>
          </a:prstGeom>
          <a:solidFill>
            <a:srgbClr val="FFFDF7"/>
          </a:solidFill>
          <a:ln w="19050">
            <a:solidFill>
              <a:srgbClr val="D9D3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697480"/>
            <a:ext cx="685800" cy="6858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773168" y="35661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Coach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4773168" y="42062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Certified, anonymous review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7991856" y="2377440"/>
            <a:ext cx="3337560" cy="2743200"/>
          </a:xfrm>
          <a:prstGeom prst="roundRect">
            <a:avLst>
              <a:gd name="adj" fmla="val 5000"/>
            </a:avLst>
          </a:prstGeom>
          <a:solidFill>
            <a:srgbClr val="FFFDF7"/>
          </a:solidFill>
          <a:ln w="19050">
            <a:solidFill>
              <a:srgbClr val="D9D3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3336" y="2697480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403336" y="35661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Parent</a:t>
            </a:r>
            <a:endParaRPr lang="en-US" sz="3000" dirty="0"/>
          </a:p>
        </p:txBody>
      </p:sp>
      <p:sp>
        <p:nvSpPr>
          <p:cNvPr id="15" name="Text 10"/>
          <p:cNvSpPr txBox="1"/>
          <p:nvPr/>
        </p:nvSpPr>
        <p:spPr>
          <a:xfrm>
            <a:off x="8403336" y="42062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Sees everything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amond Drive">
  <a:themeElements>
    <a:clrScheme name="Diamond Drive">
      <a:dk1>
        <a:srgbClr val="0F1A14"/>
      </a:dk1>
      <a:lt1>
        <a:srgbClr val="F4F1E8"/>
      </a:lt1>
      <a:dk2>
        <a:srgbClr val="1A2A20"/>
      </a:dk2>
      <a:lt2>
        <a:srgbClr val="FFFDF7"/>
      </a:lt2>
      <a:accent1>
        <a:srgbClr val="1E7A45"/>
      </a:accent1>
      <a:accent2>
        <a:srgbClr val="4FCB7E"/>
      </a:accent2>
      <a:accent3>
        <a:srgbClr val="C2410C"/>
      </a:accent3>
      <a:accent4>
        <a:srgbClr val="C9D6CC"/>
      </a:accent4>
      <a:accent5>
        <a:srgbClr val="4A564E"/>
      </a:accent5>
      <a:accent6>
        <a:srgbClr val="D9D3C3"/>
      </a:accent6>
      <a:hlink>
        <a:srgbClr val="1E7A45"/>
      </a:hlink>
      <a:folHlink>
        <a:srgbClr val="4A564E"/>
      </a:folHlink>
    </a:clrScheme>
    <a:fontScheme name="Diamond Driv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280</Words>
  <Application>Microsoft Macintosh PowerPoint</Application>
  <PresentationFormat>Widescreen</PresentationFormat>
  <Paragraphs>48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Diamond Drive</vt:lpstr>
      <vt:lpstr>PowerPoint Presentation</vt:lpstr>
      <vt:lpstr>PowerPoint Presentation</vt:lpstr>
      <vt:lpstr>A free AI coach on any phone</vt:lpstr>
      <vt:lpstr>Two models on the phone.</vt:lpstr>
      <vt:lpstr>The Engine</vt:lpstr>
      <vt:lpstr>Three roles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Diamond Drive</dc:title>
  <dc:subject>PptxGenJS Presentation</dc:subject>
  <dc:creator>PptxGenJS</dc:creator>
  <cp:lastModifiedBy>Ish R</cp:lastModifiedBy>
  <cp:revision>2</cp:revision>
  <dcterms:created xsi:type="dcterms:W3CDTF">2026-10-03T21:09:40Z</dcterms:created>
  <dcterms:modified xsi:type="dcterms:W3CDTF">2026-10-04T00:39:40Z</dcterms:modified>
</cp:coreProperties>
</file>